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D60000"/>
                </a:solidFill>
                <a:latin typeface="Outfit"/>
              </a:defRPr>
            </a:pPr>
            <a:r>
              <a:t>JITHVAR BUSINESS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  <a:latin typeface="Outfit"/>
              </a:defRPr>
            </a:pPr>
            <a:r>
              <a:t>Jithvar Business Group Strategy Challenge</a:t>
            </a:r>
          </a:p>
          <a:p>
            <a:pPr>
              <a:spcAft>
                <a:spcPts val="3000"/>
              </a:spcAft>
              <a:defRPr sz="1800">
                <a:solidFill>
                  <a:srgbClr val="93C5FD"/>
                </a:solidFill>
                <a:latin typeface="Outfit"/>
              </a:defRPr>
            </a:pPr>
            <a:r>
              <a:t>A Structured Blueprint for Identification, Prioritization, and Execution of Growth Adjacencies</a:t>
            </a:r>
          </a:p>
          <a:p>
            <a:pPr>
              <a:defRPr sz="1300">
                <a:solidFill>
                  <a:srgbClr val="94A3B8"/>
                </a:solidFill>
                <a:latin typeface="Inter"/>
              </a:defRPr>
            </a:pPr>
            <a:r>
              <a:t>JBG Business Fellowship Program | IIM Rohtak Challenge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The Strategic Challenge: Capital Constraints in a Diversified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Navigating Sourced Pipeline Saturation and Siloed Resource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Bottleneck: Resource Dispersion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Diversification vs. Dilution: Group footprints across JCS (Software), Nature Grid (Clean Energy), and Aequalis (HR) represent high-growth vectors, but decentralized allocations dilute impact.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Pipeline Saturation: Over 20+ opportunities compete for growth budgets simultaneously, causing decision paralysis.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Operating Constraints: Strict bottlenecks in software engineering headcount, capital availability, and management attention.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Subjective Bias: Legacy capital allocations influenced by subjective preference rather than quantitative criteria.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Solution: A Structured Growth Funnel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1: Diagnose Core Health - Audit operational structures, developer availability, and base margins to protect JBG's foundation.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2: Scorecard Prioritization - Score all pipeline opportunities across 8 weighted market attractiveness and capability fit lenses.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3: Validate Pilots - Build interactive MVPs to test customer demand and willingness to pay before committing scale capex.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Establishing a quantitative filtering funnel prevents JBG from diluting capital and focus across too many concurrent projects.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Portfolio Diagnostics: Baseline Core &amp; Adjacencies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Reviewing JBG's Current Footprint and Low-Risk Growth Pathways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JCS (Technology Consulting)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Current Core: High-touch digital solutions and custom CRM/ERP integrations.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Growth Pathway: Expand custom software dev contracts into high-margin, international managed service retainers to secure predictable monthly revenue.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Nature Grid (Renewable Energy) &amp; Aequalis (HR)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Nature Grid Solar: Shift from residential panels to Commercial &amp; Industrial (C&amp;I) installations and multi-year Operations &amp; Maintenance (O&amp;M) service contracts.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Aequalis Staffing: Pivot from manual, transactional recruitment placements into high-margin, recurring contract staffing retainers.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Maximizing Group value begins by migrating transactional services (one-off projects/hires) to recurring contract models.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The Opportunity Prioritization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A Quantitative Matrix to Standardize Capital and Resource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Weighted Scorecard Dimensions (out of 100%)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Market Potential (40%): Evaluates Market Attractiveness (TAM/SAM, CAGR) and pricing power / Customer LTV potential.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Strategic Fit (30%): Measures JBG Capability Fit (developer leverage) and Brand Alignment (technology &amp; sustainability).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Feasibility (20%): Assesses Competitive Intensity (barriers to entry) and Ease of Execution (regulatory, timelines).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Capital &amp; Risk (10%): Evaluates Capital Efficiency (asset-light models) and operational/liability Risk Mitigation.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Evaluation Protocol &amp; Gates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Unified Score: Opportunities rated 1–10 across the 8 dimensions. Score is calculated as a weighted sum of factors.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Pilot Threshold: Initiatives must score &gt;= 65/100 to qualify for MVP validation funding.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Objective Focus: Replaces subjective internal budgeting arguments with quantitative strategic alignment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Establishing a quantitative scorecard filters subjective opinions out of the investment process and protects capital.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Prioritized Adjacencies: JBG Growth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Ranking Sourced Projects to Maximize ROI and Cross-Business Synergy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Prioritized Roadmap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Rank 1: B2B Recruitment Automation SaaS (Score: 84/100). Synergy: JCS engineering capability + Aequalis client networks.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Rank 2: Solar Telemetry &amp; Predictive O&amp;M SaaS (Score: 78/100). Synergy: JCS IoT cloud platforms + Nature Grid field engineers.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Rank 3: JCS Template &amp; Connector Marketplace (Score: 72/100). Synergy: Productizing custom CRM/ERP integration scripts.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Synergy &amp; Scalability Rationale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Capital Efficiency: Focuses on software/SaaS models that scale revenue without a linear increase in developer headcount.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Low-CAC Advantage: Leverages existing client relationships within Aequalis and Nature Grid as distribution channels, bypassing high marketing CAC.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Proprietary IP: Pivots the group from service brokers to owners of valuable software assets.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Prioritizing B2B SaaS models allows JBG to capture recurring licensing fees without linear headcount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#1: B2B Recruitment Automation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Pivoting Aequalis Global from a Services Buyer to a SaaS Vendor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Synergy Mechanics: JCS + Aequalis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Problem: Mid-market clients struggle with manual resume matching, resulting in high time-to-hire and talent drop-offs.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Synergy: JCS engineers build a custom AI matching and resume screening parser. Aequalis provides the domain validation and test database.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Value Capture: Aequalis cross-sells the software to their existing corporate client base, securing subscription licensing fees.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Target Economics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Operational Velocity: Automates the sourcing and screening process, saving recruiters 70% of manual effort.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Zero Marketing CAC: Sold directly to current recruiting clients during the launch phase.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High-Margin Stream: Captures $2,000+ monthly ARPU per enterprise client.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Cross-selling proprietary software to Aequalis's client base bypasses early customer acquisition costs (CAC).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#2: Solar Telemetry &amp; Predictive O&amp;M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Generating Recurring Software Revenues on top of Solar installations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Synergy Mechanics: JCS + Nature Grid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Problem: Commercial solar clients lack transparency into active panel degradation, energy yields, and system ROI.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Synergy: JCS builds a cloud-connected IoT telemetry platform. Nature Grid installs sensors and embeds the software.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Value Capture: Bundles live monitoring and predictive maintenance services with all commercial solar panel installations.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Commercial Impact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Stable O&amp;M Retainers: Alerts auto-detect dust and panel issues, allowing Nature Grid to dispatch O&amp;M cleaning crews.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Performance Yields: Increases solar output by up to 15% through predictive servicing.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Recurring Revenue: Turns transactional hardware sales into multi-year software-supported service agreements.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Bundling solar telemetry software turns Nature Grid's hardware sales into predictable recurring service revenue.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#3: JCS Integration Template Marketplace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Transitioning from Low-Margin Projects to Reusable API Marketplace Assets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Productization Shift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Custom Dev Limits: Traditional software consulting requires bespoke builds for every client, bounding revenues to developer headcount.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Strategy: Package common ERP-to-CRM connectors, database layers, and automation workflows into a marketplace.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Enterprise Licensing: License templates to mid-market developers, securing high-margin digital asset revenue.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Operational Benefits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Delivery Velocity: Shrinks client customization delivery times by 50%.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Developer Leverage: Developer capacity doubles as engineers reuse pre-packaged scripts rather than rewriting code.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Scale: Allows JCS to bid on larger contracts without needing immediate hiring.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Productizing integration components scales JCS revenues without a linear increase in developer headcount.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B2B Growth Enablement: Marketing &amp; GTM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Digital Marketing, Sales Integration, and Inter-Group Cross-Selling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Digital Lead Generation Engine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Inbound Pipeline: Establish a strong digital presence via target SEO, technical case studies, and corporate webinars.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Interactive Web Tools: Host free automated calculators (e.g. Solar yield and HR savings ROI calculators) to capture B2B buyer leads.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Sales Integration &amp; Incentives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Account Rep Cross-Training: Train Aequalis reps to bundle JCS developers, and solar reps to bundle telemetry platforms.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Commission Alignment: Establish inter-group commissions. Reward recruiting and solar reps for converting clients to recurring SaaS.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Integrating sales networks across business units turns JBG's portfolio into a unified client acquisition machine.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Pre-Investment Checklist: Due Diligence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Required Information and Validation Gates Before Committing Scale Capital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Required Due Diligence Studies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TAM Verification: Confirm actual market sizing and B2B customer densities using Gartner and IDC industry reports.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Competitive Mapping: Audit pricing structures, features, and commercial models of existing CRM, staffing, and IoT telemetry products.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Regulatory Audits: Verify state-level solar net metering policies and candidate data privacy compliance (GDPR/DPD).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Client Validation Pilots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Technical POCs: Run developer hackathons within JCS to test integrations before hiring specialized architects.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The 5-Client Gate: Present interactive simulators to 5 target B2B clients. Allocate development budgets ONLY if at least 3 clients commit.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Committing growth capital requires quantitative verification of market demand, competitive space, and technical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Execution Roadmap: 90-Day 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Milestones Across Diagnosis, Design, and Validation Workstreams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Phase 1: Diagnose &amp; Phase 2: Design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1 (Days 1–30): Audit JCS developer availability, Nature Grid margins, and identify target Aequalis client candidates.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2 (Days 31–60): Apply prioritized scorecard to the longlist. Build interactive B2B simulators to demonstrate SaaS concepts.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Phase 3: Validate &amp; Pilot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Phase 3 (Days 61–90): Present simulators to the 5 strategic B2B clients. Collect feedback, finalize pricing models.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Letter of Intent (LOI) Gates: Secure early pilot commitments to validate willingness to pay before writing product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A structured 90-day timeline prevents 'zombie projects' by enforcing clear exit gates at each phase.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Group Governance: Success Metrics &amp; Exit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Tracking KPIs Across Portfolio Health, Unit Economics, and Fail-Fast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Group ROIC &amp; Unit Economics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Portfolio Gate: Target EBITDA margin expansion, overall Group ROIC, and developer utilization rates.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Commercial Gate: Target a Customer Lifetime Value to CAC ratio (LTV:CAC) &gt; 3.0x, and a cash payback cycle under 12 months.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Capital Discipline &amp; Fail-Fast Rules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Milestone Gates: Enforce strict 60-day development milestones to prevent resource drag.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Exit Protocol: Automatically terminate any MVP that does not secure at least 2 paid pilot commitments in 60 days.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Inter"/>
              </a:defRPr>
            </a:pPr>
            <a:r>
              <a:t>• Velocity: Target a &gt; 70% early rejection rate at the design gate to protect JBG's primary balance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2356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62356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Corporate discipline requires funding winners and terminating unviable projects before capital is exhausted.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