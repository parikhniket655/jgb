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60000"/>
                </a:solidFill>
                <a:latin typeface="Outfit"/>
              </a:defRPr>
            </a:pPr>
            <a:r>
              <a:t>JITHVAR BUSINESS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Outfit"/>
              </a:defRPr>
            </a:pPr>
            <a:r>
              <a:t>Jithvar Business Group Strategy Challenge</a:t>
            </a:r>
          </a:p>
          <a:p>
            <a:pPr>
              <a:spcAft>
                <a:spcPts val="3200"/>
              </a:spcAft>
              <a:defRPr sz="1600">
                <a:solidFill>
                  <a:srgbClr val="93C5FD"/>
                </a:solidFill>
                <a:latin typeface="Outfit"/>
              </a:defRPr>
            </a:pPr>
            <a:r>
              <a:t>A Structured Blueprint for Identification, Prioritization, and Execution of Growth Adjacencies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JBG Business Fellowship Program  |  IIM Rohtak Challenge Submission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The Strategic Challenge: Capital Constraints in a Diversified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Navigating Sourced Pipeline Saturation and Siloed Resource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2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Establishing a quantitative filtering funnel prevents JBG from diluting capital and focus across too many concurrent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949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The Bottleneck: Resource Dispersion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Group footprints across Software (JCS), Clean Energy (Nature Grid), and HR (Aequalis) represent high-growth vectors, but decentralized allocations dilute impact.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Over 20+ opportunities compete for growth budgets simultaneously, causing decision paralysis.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Strict limits on developer pools, capital availability, and management attention.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Budget allocations influenced by subjective preference rather than quantitative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08760"/>
            <a:ext cx="53949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The Solution: A Structured Growth Funnel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Phase 1: Diagnose Core Health - Audit operational structures, developer availability, and base margins to protect JBG's foundation.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Phase 2: Scorecard Prioritization - Score all pipeline opportunities across 8 weighted market attractiveness and capability fit lenses.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Phase 3: Validate Pilots - Build interactive B2B SaaS simulators to test client willingness to pay before committing scale capex.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Portfolio Diagnostics: Baseline Core &amp; Adjacencies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Reviewing JBG's Current Footprint and Low-Risk Growth Pathways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3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Maximizing Group value begins by migrating transactional services (one-off projects/hires) to recurring contract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Inter"/>
              </a:defRPr>
            </a:pPr>
            <a:r>
              <a:t>[JCS (TECHNOLOGY)]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Core: Software Consulting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Bespoke application dev and digital support.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Adjacency: Move from custom contracts to international managed service retainers to secure stable monthly software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913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073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[NATURE GRID (ENERGY)]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Core: Residential Solar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Residential panel installs and setups.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Adjacency: Shift focus to Commercial &amp; Industrial (C&amp;I) installations and multi-year Operations &amp; Maintenance (O&amp;M) service contracts.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186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346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[AEQUALIS GLOBAL (HR)]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Core: Executive Search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Transactional recruiter matching and bulk hiring.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Adjacency: Pivot manual search fees into predictable, high-margin contract staffing retainers.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The Opportunity Prioritization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A Quantitative Matrix to Standardize Capital and Resource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4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Establishing a quantitative scorecard filters subjective opinions out of the investment process and protects capital.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0876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640080"/>
                <a:gridCol w="3017520"/>
              </a:tblGrid>
              <a:tr h="4368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Evaluation Factor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High Score Criteria (10/10)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Market Potential (40%)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Market Attractiveness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Large TAM ($500M+), double-digit CAGR.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Market Potential (40%)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Revenue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Recurring SaaS subscriptions or multi-year contracts.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Strategic Fit (30%)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JBG Capability 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Leverages JCS developers and current client bases.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Strategic Fit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Brand Synergy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Fits JBG's technology and sustainability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Feasibility (20%)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Competitive Intensity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Fragmented market with low technology penetration.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Feasibility (20%)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Ease of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Low regulatory hurdles, time-to-market &lt; 6 mos.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Capital &amp; Risk (10%)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Capital Efficiency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Asset-light software/SaaS models with low capex.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Capital &amp; Risk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Risk Mitigation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Low regulatory, technical, or delivery liabilities.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508760"/>
            <a:ext cx="405353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600200"/>
            <a:ext cx="37792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Evaluation Protocol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Opportunities are rated 1 to 10 across these 8 factors, resulting in a weighted score out of 100.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 threshold score of &gt;= 65/100 is required to allocate seed MVP validation funding.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Replaces subjective internal budgeting arguments with structured, quantitative capability fit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Prioritized Adjacencies: JBG Growth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Ranking Sourced Projects to Maximize ROI and Cross-Business Synergy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5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Prioritizing B2B SaaS models allows JBG to capture recurring licensing fees without linear headcount growth.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0876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640080"/>
                <a:gridCol w="2468880"/>
                <a:gridCol w="1188720"/>
              </a:tblGrid>
              <a:tr h="9829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Strategic Opportunity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Synergy Mechanics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Business Model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D60000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E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B2B Recruitment Automation SaaS</a:t>
                      </a:r>
                    </a:p>
                  </a:txBody>
                  <a:tcPr>
                    <a:solidFill>
                      <a:srgbClr val="FE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84/100</a:t>
                      </a:r>
                    </a:p>
                  </a:txBody>
                  <a:tcPr>
                    <a:solidFill>
                      <a:srgbClr val="FE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JCS engineering + Aequalis staffing network</a:t>
                      </a:r>
                    </a:p>
                  </a:txBody>
                  <a:tcPr>
                    <a:solidFill>
                      <a:srgbClr val="FE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Subscription SaaS</a:t>
                      </a:r>
                    </a:p>
                  </a:txBody>
                  <a:tcPr>
                    <a:solidFill>
                      <a:srgbClr val="FEE4E6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Solar Telemetry &amp; Predictive 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78/100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JCS IoT cloud platforms + Nature Grid engineers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Telemetry + 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JCS Template &amp; Connector Marketplace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72/100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Productizing custom CRM/ERP integrations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Reusable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508760"/>
            <a:ext cx="405353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600200"/>
            <a:ext cx="37792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Strategic Synergy Logic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Prioritize cross-business synergies where one unit's tech capability (JCS) scales another unit's distribution network (Aequalis, Nature Grid).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SaaS product models scale revenues exponentially without adding linear headcount or developer pools.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Capturing existing client accounts provides near-zero marketing customer acquisition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Opportunity #1: B2B Recruitment Automation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Pivoting Aequalis Global from a Services Buyer to a SaaS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6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Cross-selling proprietary software to Aequalis's client base bypasses early customer acquisition costs (CAC).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1. Core Capability &amp; Pain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Aequalis human recruiters manually read resumes, call candidates, and match profiles. Extremely slow, resource-heavy process. JCS has software engineers capable of automating screening pipelines.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17873" y="3291840"/>
            <a:ext cx="274320" cy="182880"/>
          </a:xfrm>
          <a:prstGeom prst="rightArrow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9353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513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2. The SaaS Solution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An automated applicant sourcing, screening, and matching platform. Integrates CV-matching algorithms to score candidates instantly. Aequalis cross-sells the platform to its corporate base.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98586" y="3291840"/>
            <a:ext cx="274320" cy="182880"/>
          </a:xfrm>
          <a:prstGeom prst="rightArrow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0066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7226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Outfit"/>
              </a:defRPr>
            </a:pPr>
            <a:r>
              <a:t>3. Target Economics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Saves recruiters 70% of manual effort. Warm cross-selling eliminates marketing CAC. Standard monthly subscription contract captures $2,000+ monthly ARPU per enterprise client.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Opportunity #2: Solar Telemetry &amp; Predictive O&amp;M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Generating Recurring Software Revenues on top of Solar installations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7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Bundling solar telemetry software turns Nature Grid's hardware sales into predictable recurring service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1. Core Capability &amp; Pain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Nature Grid solar panel installation contracts are one-time capital purchases. Customers lack transparency into active energy yields and degradation. JCS can design IoT analytics dashboards.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17873" y="3291840"/>
            <a:ext cx="274320" cy="182880"/>
          </a:xfrm>
          <a:prstGeom prst="rightArrow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9353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513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2. The SaaS Solution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An IoT monitoring panel telemetry software. Tracks active output (kW) and daily counts (kWh). Automatically detects dust, triggering cleanings and scheduling maintenance dispatches.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98586" y="3291840"/>
            <a:ext cx="274320" cy="182880"/>
          </a:xfrm>
          <a:prstGeom prst="rightArrow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0066" y="1508760"/>
            <a:ext cx="333207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7226" y="160020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Outfit"/>
              </a:defRPr>
            </a:pPr>
            <a:r>
              <a:t>3. Target Economics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Secures multi-year predictive maintenance agreements. Boosts panel yields by 15%, transforming transactional sales into high-margin recurring retainers.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Opportunity #3: JCS Integration Template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Transitioning from Low-Margin Projects to Reusable API Marketplace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8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Productizing integration components scales JCS revenues without a linear increase in developer headcount.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949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Inter"/>
              </a:defRPr>
            </a:pPr>
            <a:r>
              <a:t>[LEGACY SERVICES MODEL]</a:t>
            </a:r>
          </a:p>
          <a:p>
            <a:pPr>
              <a:spcAft>
                <a:spcPts val="12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Custom IT Development Projects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Every software client contract requires custom coding from scratch.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Requires linear developer hiring to grow group consulting revenues.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Low overall operational margin due to labor-intensive deployment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08760"/>
            <a:ext cx="5394960" cy="3931920"/>
          </a:xfrm>
          <a:prstGeom prst="roundRect">
            <a:avLst/>
          </a:prstGeom>
          <a:solidFill>
            <a:srgbClr val="FEE4E6"/>
          </a:solidFill>
          <a:ln>
            <a:solidFill>
              <a:srgbClr val="D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60000"/>
                </a:solidFill>
                <a:latin typeface="Inter"/>
              </a:defRPr>
            </a:pPr>
            <a:r>
              <a:t>[PRODUCTIZED PLATFORM STRATEGY]</a:t>
            </a:r>
          </a:p>
          <a:p>
            <a:pPr>
              <a:spcAft>
                <a:spcPts val="12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Reusable API Connector Marketplace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Package CRM/ERP connector configurations into standard enterprise templates.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Shrinks client custom integration delivery times by 50%.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Developer capacity doubles as engineers reuse pre-built API marketplace scripts.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B2B Growth Enablement: Marketing &amp; GTM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Digital Marketing, Sales Integration, and Inter-Group Cross-Selling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9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Integrating sales networks across business units turns JBG's portfolio into a unified client acquisition machine.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Inter"/>
              </a:defRPr>
            </a:pPr>
            <a:r>
              <a:t>[INBOUND MARKETING]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Lead Generation Engine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Establish online authority via technical case studies and SEO.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Deploy free interactive tools (e.g. solar yield and matching ROI calculators) to capture corporate leads.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913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073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[SALES INTEGRATION]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Cross-Training &amp; Bundles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Cross-train account reps across business units.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Bundle JCS devs with staffing contracts, and telemetry software with commercial solar panel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186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346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[INCENTIVE ALIGNMENT]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Commission Models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Reward recruiters and solar sales reps for cross-selling SaaS subscriptions.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Share recurring SaaS value across divisions to build a unified GTM machine.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Pre-Investment Checklist: Due Diligence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Required Information and Validation Gates Before Committing Scale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10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Committing growth capital requires quantitative verification of market demand, competitive space, and technical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949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Required Research &amp; Data Inputs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TAM Validation: Verify actual market sizing, CAGR, and customer densities using Gartner and IDC research databases.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Competitive Audits: Map feature sets and contract pricing structures of existing CRM, staffing, and solar telemetry software.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Regulatory Compliance: Audit state-level net metering, solar tax credits, and candidate data privacy regulations (GDPR).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08760"/>
            <a:ext cx="53949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6002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537"/>
                </a:solidFill>
                <a:latin typeface="Outfit"/>
              </a:defRPr>
            </a:pPr>
            <a:r>
              <a:t>Client Validation Pilots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Technical POCs: Conduct JCS developer hackathons to verify database integrations and sensor telemetry API connectivity.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The 5-Client Gate: Present interactive simulators to 5 target B2B clients. Commit development budget ONLY if at least 3 clients express intent-to-buy.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Execution Roadmap: 90-Day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Milestones Across Diagnosis, Design, and Validation Workstreams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11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A structured 90-day timeline prevents 'zombie projects' by enforcing clear exit gates at each phase.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Inter"/>
              </a:defRPr>
            </a:pPr>
            <a:r>
              <a:t>[DAYS 1 - 30]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Phase 1: Diagnose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Audit developer utilization rates.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Analyze Nature Grid margins.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Map Aequalis's client accounts for warm SaaS cross-sell opportunities.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09313" y="3291840"/>
            <a:ext cx="18288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7913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073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[DAYS 31 - 60]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Phase 2: Design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Score pipeline ideas using prioritized scorecard.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Build interactive B2B simulators to demonstrate solar &amp; staffing SaaS.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Draft API connector marketplace database schemas.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98586" y="3291840"/>
            <a:ext cx="18288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7186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346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[DAYS 61 - 90]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Phase 3: Pilot &amp; Validate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Present simulators to 5 strategic B2B clients.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Collect feedback, define subscription pricing models.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Secure early pilot letters of intent (LOI) to validate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537"/>
                </a:solidFill>
                <a:latin typeface="Outfit"/>
              </a:defRPr>
            </a:pPr>
            <a:r>
              <a:t>Group Governance: Success Metrics &amp; Exit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Outfit"/>
              </a:defRPr>
            </a:pPr>
            <a:r>
              <a:t>Tracking KPIs Across Portfolio Health, Unit Economics, and Fail-Fast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6576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Jithvar Business Group Strategy Deck  |  Confidential  |  Slide 12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23560"/>
            <a:ext cx="11094415" cy="594360"/>
          </a:xfrm>
          <a:prstGeom prst="rect">
            <a:avLst/>
          </a:prstGeom>
          <a:solidFill>
            <a:srgbClr val="FE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23560"/>
            <a:ext cx="73152" cy="594360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91B1B"/>
                </a:solidFill>
                <a:latin typeface="Inter"/>
              </a:defRPr>
            </a:pPr>
            <a:r>
              <a:t>Strategic Takeaway: Corporate discipline requires funding winners and terminating unviable projects before capital is exhausted.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64748B"/>
                </a:solidFill>
                <a:latin typeface="Inter"/>
              </a:defRPr>
            </a:pPr>
            <a:r>
              <a:t>[PORTFOLIO HEALTH]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Group Level Metrics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Group-wide EBITDA margin expansion.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Group Return on Invested Capital (ROIC).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Software engineer resource utilization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913" y="1508760"/>
            <a:ext cx="3514953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073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Inter"/>
              </a:defRPr>
            </a:pPr>
            <a:r>
              <a:t>[UNIT ECONOMICS]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Commercial Viability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Customer Lifetime Value to CAC ratio (LTV:CAC) &gt; 3.0x.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Cash payback cycle under 12 months.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Subscription churn rate under 1.5% per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186" y="1508760"/>
            <a:ext cx="3514953" cy="3931920"/>
          </a:xfrm>
          <a:prstGeom prst="roundRect">
            <a:avLst/>
          </a:prstGeom>
          <a:solidFill>
            <a:srgbClr val="FEE4E6"/>
          </a:solidFill>
          <a:ln>
            <a:solidFill>
              <a:srgbClr val="D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346" y="1600200"/>
            <a:ext cx="324063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60000"/>
                </a:solidFill>
                <a:latin typeface="Inter"/>
              </a:defRPr>
            </a:pPr>
            <a:r>
              <a:t>[DISCIPLINE GATE]</a:t>
            </a:r>
          </a:p>
          <a:p>
            <a:pPr>
              <a:spcAft>
                <a:spcPts val="1000"/>
              </a:spcAft>
              <a:defRPr sz="1300" b="1">
                <a:solidFill>
                  <a:srgbClr val="0F2537"/>
                </a:solidFill>
                <a:latin typeface="Outfit"/>
              </a:defRPr>
            </a:pPr>
            <a:r>
              <a:t>Fail-Fast Rules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Enforce strict 60-day development milestones.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Automatically terminate any MVP that does not secure at least 2 paid pilot commitments in 60 days.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Target &gt; 70% early rejection rate at the design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