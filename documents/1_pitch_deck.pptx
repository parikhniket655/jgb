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5486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D60000"/>
                </a:solidFill>
                <a:latin typeface="Outfit"/>
              </a:defRPr>
            </a:pPr>
            <a:r>
              <a:t>JITHVAR BUSINESS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800" b="1">
                <a:solidFill>
                  <a:srgbClr val="FFFFFF"/>
                </a:solidFill>
                <a:latin typeface="Outfit"/>
              </a:defRPr>
            </a:pPr>
            <a:r>
              <a:t>Jithvar Business Group Strategy Challenge</a:t>
            </a:r>
          </a:p>
          <a:p>
            <a:pPr>
              <a:spcAft>
                <a:spcPts val="3200"/>
              </a:spcAft>
              <a:defRPr sz="1600">
                <a:solidFill>
                  <a:srgbClr val="93C5FD"/>
                </a:solidFill>
                <a:latin typeface="Outfit"/>
              </a:defRPr>
            </a:pPr>
            <a:r>
              <a:t>A Structured Blueprint for Identification, Prioritization, and Execution of Growth Adjacencies</a:t>
            </a:r>
          </a:p>
          <a:p>
            <a:pPr>
              <a:defRPr sz="1300">
                <a:solidFill>
                  <a:srgbClr val="64748B"/>
                </a:solidFill>
                <a:latin typeface="Inter"/>
              </a:defRPr>
            </a:pPr>
            <a:r>
              <a:t>JBG Business Fellowship Program  |  IIM Rohtak Challenge Submission  |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The Strategic Challenge: Capital Constraints in a Diversified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Navigating Sourced Pipeline Saturation and Siloed Resource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2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Establishing a quantitative filtering funnel prevents JBG from diluting capital and focus across too many concurrent projects.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Bottleneck: Resource Dispersion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Group footprints across Software (JCS), Clean Energy (Nature Grid), and HR (Aequalis) represent high-growth vectors, but decentralized allocations dilute impact.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Over 20+ opportunities compete for growth budgets simultaneously, causing decision paralysis.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Strict limits on developer pools, capital availability, and management attention.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Budget allocations influenced by subjective preference rather than quantitative criteria.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The Solution: A Structured Growth Funnel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Phase 1: Diagnose Core Health - Audit operational structures, developer availability, and base margins to protect JBG's foundation.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Phase 2: Scorecard Prioritization - Score all pipeline opportunities across 8 weighted market attractiveness and capability fit lenses.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Phase 3: Validate Pilots - Build interactive B2B SaaS simulators to test client willingness to pay before committing scale capex.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Portfolio Diagnostics: Baseline Core &amp; Adjacencies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Reviewing JBG's Current Footprint and Low-Risk Growth Pathways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3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Maximizing Group value begins by migrating transactional services (one-off projects/hires) to recurring contract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[JCS (TECHNOLOGY)]</a:t>
            </a:r>
          </a:p>
          <a:p>
            <a:pPr algn="ctr">
              <a:defRPr sz="800" b="1">
                <a:solidFill>
                  <a:srgbClr val="64748B"/>
                </a:solidFill>
                <a:latin typeface="Inter"/>
              </a:defRPr>
            </a:pPr>
            <a:r>
              <a:t>CORE SERVICES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Software Consulting</a:t>
            </a:r>
          </a:p>
          <a:p>
            <a:pPr algn="ctr">
              <a:defRPr sz="800" b="1">
                <a:solidFill>
                  <a:srgbClr val="D60000"/>
                </a:solidFill>
                <a:latin typeface="Inter"/>
              </a:defRPr>
            </a:pPr>
            <a:r>
              <a:t>PIVOT ADJACENCY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D60000"/>
                </a:solidFill>
                <a:latin typeface="Outfit"/>
              </a:defRPr>
            </a:pPr>
            <a:r>
              <a:t>▼</a:t>
            </a:r>
          </a:p>
          <a:p>
            <a:pPr algn="ctr">
              <a:spcAft>
                <a:spcPts val="400"/>
              </a:spcAft>
              <a:defRPr sz="1300" b="1">
                <a:solidFill>
                  <a:srgbClr val="0284C7"/>
                </a:solidFill>
                <a:latin typeface="Outfit"/>
              </a:defRPr>
            </a:pPr>
            <a:r>
              <a:t>Managed Service Retainers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Pivot bespoke developer project contracts to recurring monthly managed service fees.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7913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073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[NATURE GRID (ENERGY)]</a:t>
            </a:r>
          </a:p>
          <a:p>
            <a:pPr algn="ctr">
              <a:defRPr sz="800" b="1">
                <a:solidFill>
                  <a:srgbClr val="64748B"/>
                </a:solidFill>
                <a:latin typeface="Inter"/>
              </a:defRPr>
            </a:pPr>
            <a:r>
              <a:t>CORE SERVICES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Residential Solar</a:t>
            </a:r>
          </a:p>
          <a:p>
            <a:pPr algn="ctr">
              <a:defRPr sz="800" b="1">
                <a:solidFill>
                  <a:srgbClr val="D60000"/>
                </a:solidFill>
                <a:latin typeface="Inter"/>
              </a:defRPr>
            </a:pPr>
            <a:r>
              <a:t>PIVOT ADJACENCY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D60000"/>
                </a:solidFill>
                <a:latin typeface="Outfit"/>
              </a:defRPr>
            </a:pPr>
            <a:r>
              <a:t>▼</a:t>
            </a:r>
          </a:p>
          <a:p>
            <a:pPr algn="ctr">
              <a:spcAft>
                <a:spcPts val="400"/>
              </a:spcAft>
              <a:defRPr sz="1300" b="1">
                <a:solidFill>
                  <a:srgbClr val="0284C7"/>
                </a:solidFill>
                <a:latin typeface="Outfit"/>
              </a:defRPr>
            </a:pPr>
            <a:r>
              <a:t>C&amp;I Projects + O&amp;M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Pivot residential setups to Commercial solar contracts bundled with active telemetry monitoring retainers.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186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4346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[AEQUALIS GLOBAL (HR)]</a:t>
            </a:r>
          </a:p>
          <a:p>
            <a:pPr algn="ctr">
              <a:defRPr sz="800" b="1">
                <a:solidFill>
                  <a:srgbClr val="64748B"/>
                </a:solidFill>
                <a:latin typeface="Inter"/>
              </a:defRPr>
            </a:pPr>
            <a:r>
              <a:t>CORE SERVICES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Executive Search</a:t>
            </a:r>
          </a:p>
          <a:p>
            <a:pPr algn="ctr">
              <a:defRPr sz="800" b="1">
                <a:solidFill>
                  <a:srgbClr val="D60000"/>
                </a:solidFill>
                <a:latin typeface="Inter"/>
              </a:defRPr>
            </a:pPr>
            <a:r>
              <a:t>PIVOT ADJACENCY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D60000"/>
                </a:solidFill>
                <a:latin typeface="Outfit"/>
              </a:defRPr>
            </a:pPr>
            <a:r>
              <a:t>▼</a:t>
            </a:r>
          </a:p>
          <a:p>
            <a:pPr algn="ctr">
              <a:spcAft>
                <a:spcPts val="400"/>
              </a:spcAft>
              <a:defRPr sz="1300" b="1">
                <a:solidFill>
                  <a:srgbClr val="0284C7"/>
                </a:solidFill>
                <a:latin typeface="Outfit"/>
              </a:defRPr>
            </a:pPr>
            <a:r>
              <a:t>Contract Staffing Retainers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Pivot manual candidate search commissions to recurring B2B IT staffing retainer contracts.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The Opportunity Prioritization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A Quantitative Matrix to Standardize Capital and Resource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4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Establishing a quantitative scorecard filters subjective opinions out of the investment process and protects capital.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08760"/>
          <a:ext cx="6858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554480"/>
                <a:gridCol w="640080"/>
                <a:gridCol w="3017520"/>
              </a:tblGrid>
              <a:tr h="4368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Evaluation Factor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Weight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High Score Criteria (10/10)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Market Potential (40%)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Market Attractiveness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Large TAM ($500M+), double-digit CAGR.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Market Potential (40%)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Revenue Potential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Recurring SaaS subscriptions or multi-year contracts.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Strategic Fit (30%)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JBG Capability Fit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Leverages JCS developers and current client bases.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Strategic Fit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Brand Synergy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Fits JBG's technology and sustainability focus.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Feasibility (20%)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Competitive Intensity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Fragmented market with low technology penetration.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Feasibility (20%)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Ease of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Low regulatory hurdles, time-to-market &lt; 6 mos.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Capital &amp; Risk (10%)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Capital Efficiency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Asset-light software/SaaS models with low capex.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Capital &amp; Risk (10%)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Risk Mitigation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Low regulatory, technical, or delivery liabilities.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508760"/>
            <a:ext cx="4053535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3139135" cy="1280160"/>
          </a:xfrm>
          <a:prstGeom prst="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D60000"/>
                </a:solidFill>
                <a:latin typeface="Outfit"/>
              </a:defRPr>
            </a:pPr>
            <a:r>
              <a:t>65 / 100</a:t>
            </a:r>
          </a:p>
          <a:p>
            <a:pPr algn="ctr">
              <a:spcBef>
                <a:spcPts val="400"/>
              </a:spcBef>
              <a:defRPr sz="900" b="1">
                <a:solidFill>
                  <a:srgbClr val="64748B"/>
                </a:solidFill>
                <a:latin typeface="Inter"/>
              </a:defRPr>
            </a:pPr>
            <a:r>
              <a:t>Minimum MVP Gate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063240"/>
            <a:ext cx="3779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0F2537"/>
                </a:solidFill>
                <a:latin typeface="Outfit"/>
              </a:defRPr>
            </a:pPr>
            <a:r>
              <a:t>Evaluation Protocol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Opportunities are rated 1 to 10 across these 8 factors, resulting in a weighted score out of 100.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A threshold score of &gt;= 65/100 is required to allocate seed MVP validation funding.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Replaces subjective internal budgeting arguments with structured, quantitative capability fit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Prioritized Adjacencies: JBG Growth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Ranking Sourced Projects to Maximize ROI and Cross-Business Synergy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5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Prioritizing B2B SaaS models allows JBG to capture recurring licensing fees without linear headcount growth.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08760"/>
          <a:ext cx="6858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640080"/>
                <a:gridCol w="2468880"/>
                <a:gridCol w="1188720"/>
              </a:tblGrid>
              <a:tr h="9829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Strategic Opportunity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Synergy Mechanics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  <a:latin typeface="Outfit"/>
                        </a:defRPr>
                      </a:pPr>
                      <a:r>
                        <a:t>Business Model</a:t>
                      </a:r>
                    </a:p>
                  </a:txBody>
                  <a:tcPr>
                    <a:solidFill>
                      <a:srgbClr val="0F2537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D60000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EE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B2B Recruitment Automation SaaS</a:t>
                      </a:r>
                    </a:p>
                  </a:txBody>
                  <a:tcPr>
                    <a:solidFill>
                      <a:srgbClr val="FEE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84/100</a:t>
                      </a:r>
                    </a:p>
                  </a:txBody>
                  <a:tcPr>
                    <a:solidFill>
                      <a:srgbClr val="FEE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JCS engineering + Aequalis staffing network</a:t>
                      </a:r>
                    </a:p>
                  </a:txBody>
                  <a:tcPr>
                    <a:solidFill>
                      <a:srgbClr val="FEE4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Subscription SaaS</a:t>
                      </a:r>
                    </a:p>
                  </a:txBody>
                  <a:tcPr>
                    <a:solidFill>
                      <a:srgbClr val="FEE4E6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Solar Telemetry &amp; Predictive O&amp;M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78/100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JCS IoT cloud platforms + Nature Grid engineers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Telemetry + O&amp;M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JCS Template &amp; Connector Marketplace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72/100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Productizing custom CRM/ERP integrations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1E293B"/>
                          </a:solidFill>
                          <a:latin typeface="Inter"/>
                        </a:defRPr>
                      </a:pPr>
                      <a:r>
                        <a:t>Reusable API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508760"/>
            <a:ext cx="4053535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3139135" cy="1280160"/>
          </a:xfrm>
          <a:prstGeom prst="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D60000"/>
                </a:solidFill>
                <a:latin typeface="Outfit"/>
              </a:defRPr>
            </a:pPr>
            <a:r>
              <a:t>Rank 1: HR SaaS</a:t>
            </a:r>
          </a:p>
          <a:p>
            <a:pPr algn="ctr">
              <a:spcBef>
                <a:spcPts val="400"/>
              </a:spcBef>
              <a:defRPr sz="900" b="1">
                <a:solidFill>
                  <a:srgbClr val="64748B"/>
                </a:solidFill>
                <a:latin typeface="Inter"/>
              </a:defRPr>
            </a:pPr>
            <a:r>
              <a:t>Score: 84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063240"/>
            <a:ext cx="3779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 b="1">
                <a:solidFill>
                  <a:srgbClr val="0F2537"/>
                </a:solidFill>
                <a:latin typeface="Outfit"/>
              </a:defRPr>
            </a:pPr>
            <a:r>
              <a:t>Strategic Synergy Logic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Prioritize cross-business synergies where one unit's tech capability (JCS) scales another unit's distribution network (Aequalis, Nature Grid).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SaaS product models scale revenues exponentially without adding linear headcount or developer pools.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Capturing existing client accounts provides near-zero marketing customer acquisition costs.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#1: B2B Recruitment Automation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Pivoting Aequalis Global from a Services Buyer to a SaaS Vendor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6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Cross-selling proprietary software to Aequalis's client base bypasses early customer acquisition costs (CAC).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D60000"/>
                </a:solidFill>
                <a:latin typeface="Outfit"/>
              </a:defRPr>
            </a:pPr>
            <a:r>
              <a:t>70%</a:t>
            </a:r>
          </a:p>
          <a:p>
            <a:pPr algn="ctr">
              <a:spcAft>
                <a:spcPts val="14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Sourcing Time Saved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AI candidate screening parser scores resumes instantly, replacing human recruiter labor and accelerating hiring.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291840"/>
            <a:ext cx="274320" cy="182880"/>
          </a:xfrm>
          <a:prstGeom prst="rightArrow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JCS + Aequalis Synergy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JCS engineers build the cloud matching algorithms. Aequalis acts as design partner and distributes directly to its database of corporate staffing clients, ensuring zero marketing CAC.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09560" y="3291840"/>
            <a:ext cx="274320" cy="182880"/>
          </a:xfrm>
          <a:prstGeom prst="rightArrow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284C7"/>
                </a:solidFill>
                <a:latin typeface="Outfit"/>
              </a:defRPr>
            </a:pPr>
            <a:r>
              <a:t>$2,000+</a:t>
            </a:r>
          </a:p>
          <a:p>
            <a:pPr algn="ctr">
              <a:spcAft>
                <a:spcPts val="14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Monthly SaaS ARPU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B2B subscription licensing captures high-margin recurring software revenues on top of traditional placement commissions.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#2: Solar Telemetry &amp; Predictive O&amp;M SaaS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Generating Recurring Software Revenues on top of Solar installations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7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Bundling solar telemetry software turns Nature Grid's hardware sales into predictable recurring service revenue.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D60000"/>
                </a:solidFill>
                <a:latin typeface="Outfit"/>
              </a:defRPr>
            </a:pPr>
            <a:r>
              <a:t>+15%</a:t>
            </a:r>
          </a:p>
          <a:p>
            <a:pPr algn="ctr">
              <a:spcAft>
                <a:spcPts val="14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Solar Yield Boost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Sensors track panel degradation, dust coverage, and ROI in real-time, preventing energy loss.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23360" y="3291840"/>
            <a:ext cx="274320" cy="182880"/>
          </a:xfrm>
          <a:prstGeom prst="rightArrow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JCS + Nature Grid Synergy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JCS engineers active telemetry cloud databases. Nature Grid embeds sensors with C&amp;I panels and cleans panels with O&amp;M field dispatch crews.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09560" y="3291840"/>
            <a:ext cx="274320" cy="182880"/>
          </a:xfrm>
          <a:prstGeom prst="rightArrow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284C7"/>
                </a:solidFill>
                <a:latin typeface="Outfit"/>
              </a:defRPr>
            </a:pPr>
            <a:r>
              <a:t>100%</a:t>
            </a:r>
          </a:p>
          <a:p>
            <a:pPr algn="ctr">
              <a:spcAft>
                <a:spcPts val="1400"/>
              </a:spcAft>
              <a:defRPr sz="950" b="1">
                <a:solidFill>
                  <a:srgbClr val="64748B"/>
                </a:solidFill>
                <a:latin typeface="Inter"/>
              </a:defRPr>
            </a:pPr>
            <a:r>
              <a:t>Live Telemetry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Transforms transactional one-time hardware sales into multi-year recurring service and maintenance retainers.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Opportunity #3: JCS Integration Template Marketplace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Transitioning from Low-Margin Projects to Reusable API Marketplace Assets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8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Productizing integration components scales JCS revenues without a linear increase in developer headcount.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[LEGACY SERVICES MODEL]</a:t>
            </a:r>
          </a:p>
          <a:p>
            <a:pPr>
              <a:spcAft>
                <a:spcPts val="12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Custom IT Development Projects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Every software client contract requires custom coding from scratch.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Requires linear developer hiring to grow group consulting revenues.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Low overall operational margin due to labor-intensive deployment scripts.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394960" cy="3931920"/>
          </a:xfrm>
          <a:prstGeom prst="roundRect">
            <a:avLst/>
          </a:prstGeom>
          <a:solidFill>
            <a:srgbClr val="FEE4E6"/>
          </a:solidFill>
          <a:ln>
            <a:solidFill>
              <a:srgbClr val="D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D60000"/>
                </a:solidFill>
                <a:latin typeface="Inter"/>
              </a:defRPr>
            </a:pPr>
            <a:r>
              <a:t>[PRODUCTIZED PLATFORM STRATEGY]</a:t>
            </a:r>
          </a:p>
          <a:p>
            <a:pPr>
              <a:spcAft>
                <a:spcPts val="12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Reusable API Connector Marketplace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Package CRM/ERP connector configurations into standard enterprise templates.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Shrinks client custom integration delivery times by 50%.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Developer capacity doubles as engineers reuse pre-built API marketplace scripts.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B2B Growth Enablement: Marketing &amp; GTM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Digital Marketing, Sales Integration, and Inter-Group Cross-Selling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9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Integrating sales networks across business units turns JBG's portfolio into a unified client acquisition machine.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[INBOUND MARKETING]</a:t>
            </a:r>
          </a:p>
          <a:p>
            <a:pPr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Lead Generation Engine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Establish online authority via technical case studies and SEO.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Deploy free interactive tools (e.g. solar yield and matching ROI calculators) to capture corporate leads.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7913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073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[SALES INTEGRATION]</a:t>
            </a:r>
          </a:p>
          <a:p>
            <a:pPr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Cross-Training &amp; Bundles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Cross-train account reps across business units.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Bundle JCS devs with staffing contracts, and telemetry software with commercial solar panel hardware.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186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4346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0284C7"/>
                </a:solidFill>
                <a:latin typeface="Inter"/>
              </a:defRPr>
            </a:pPr>
            <a:r>
              <a:t>[INCENTIVE ALIGNMENT]</a:t>
            </a:r>
          </a:p>
          <a:p>
            <a:pPr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Commission Models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Reward recruiters and solar sales reps for cross-selling SaaS subscriptions.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Inter"/>
              </a:defRPr>
            </a:pPr>
            <a:r>
              <a:t>• Share recurring SaaS value across divisions to build a unified GTM machine.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Pre-Investment Checklist: Due Diligence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Required Information and Validation Gates Before Committing Scale Capital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10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Committing growth capital requires quantitative verification of market demand, competitive space, and technical scope.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Required Research &amp; Data Inputs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TAM Validation: Verify actual market sizing, CAGR, and customer densities using Gartner and IDC research databases.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Competitive Audits: Map feature sets and contract pricing structures of existing CRM, staffing, and solar telemetry software.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Regulatory Compliance: Audit state-level solar net metering policies and candidate data privacy compliance (GDPR).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508760"/>
            <a:ext cx="539496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60020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537"/>
                </a:solidFill>
                <a:latin typeface="Outfit"/>
              </a:defRPr>
            </a:pPr>
            <a:r>
              <a:t>Client Validation Pilots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Technical POCs: Conduct JCS developer hackathons to verify database integrations and sensor telemetry API connectivity.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  <a:latin typeface="Inter"/>
              </a:defRPr>
            </a:pPr>
            <a:r>
              <a:t>• The 5-Client Gate: Present interactive simulators to 5 target B2B clients. Commit development budget ONLY if at least 3 clients express intent-to-buy.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Execution Roadmap: 90-Day 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Milestones Across Diagnosis, Design, and Validation Workstreams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11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A structured 90-day timeline prevents 'zombie projects' by enforcing clear exit gates at each phase.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20240" y="1691640"/>
            <a:ext cx="588873" cy="588873"/>
          </a:xfrm>
          <a:prstGeom prst="ellipse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Outfit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305775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[DAYS 1 - 30]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Phase 1: Diagnose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Audit JCS developer utilization rates, analyze Nature Grid C&amp;I solar project margins, and identify target Aequalis CRM cross-sell accounts.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17873" y="3291840"/>
            <a:ext cx="274320" cy="18288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9353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00953" y="1691640"/>
            <a:ext cx="588873" cy="588873"/>
          </a:xfrm>
          <a:prstGeom prst="ellipse">
            <a:avLst/>
          </a:prstGeom>
          <a:solidFill>
            <a:srgbClr val="0F2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Outfit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513" y="2377440"/>
            <a:ext cx="305775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[DAYS 31 - 60]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Phase 2: Design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Score pipeline ideas using prioritized scorecard. Build interactive B2B simulators to demonstrate solar &amp; staffing SaaS concepts to clients.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98586" y="3291840"/>
            <a:ext cx="274320" cy="182880"/>
          </a:xfrm>
          <a:prstGeom prst="rightArrow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0066" y="1508760"/>
            <a:ext cx="333207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81666" y="1691640"/>
            <a:ext cx="588873" cy="588873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Outfit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226" y="2377440"/>
            <a:ext cx="305775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[DAYS 61 - 90]</a:t>
            </a:r>
          </a:p>
          <a:p>
            <a:pPr algn="ctr">
              <a:spcAft>
                <a:spcPts val="1000"/>
              </a:spcAft>
              <a:defRPr sz="1300" b="1">
                <a:solidFill>
                  <a:srgbClr val="0F2537"/>
                </a:solidFill>
                <a:latin typeface="Outfit"/>
              </a:defRPr>
            </a:pPr>
            <a:r>
              <a:t>Phase 3: Validate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Present simulators to 5 target clients. Collect feedback, define subscription pricing models, and acquire early pilot commitments.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2537"/>
                </a:solidFill>
                <a:latin typeface="Outfit"/>
              </a:defRPr>
            </a:pPr>
            <a:r>
              <a:t>Group Governance: Success Metrics &amp; Exit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Outfit"/>
              </a:defRPr>
            </a:pPr>
            <a:r>
              <a:t>Tracking KPIs Across Portfolio Health, Unit Economics, and Fail-Fast Gates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4415" cy="36576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Inter"/>
              </a:defRPr>
            </a:pPr>
            <a:r>
              <a:t>Jithvar Business Group Strategy Deck  |  Confidential  |  Slide 12 of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solidFill>
            <a:srgbClr val="FE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73152" cy="594360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235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Inter"/>
              </a:defRPr>
            </a:pPr>
            <a:r>
              <a:t>Strategic Takeaway: Corporate discipline requires funding winners and terminating unviable projects before capital is exhausted.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[PORTFOLIO HEALTH]</a:t>
            </a:r>
          </a:p>
          <a:p>
            <a:pPr algn="ctr">
              <a:defRPr sz="2800" b="1">
                <a:solidFill>
                  <a:srgbClr val="0F2537"/>
                </a:solidFill>
                <a:latin typeface="Outfit"/>
              </a:defRPr>
            </a:pPr>
            <a:r>
              <a:t>ROIC &amp; Margin</a:t>
            </a:r>
          </a:p>
          <a:p>
            <a:pPr algn="ctr">
              <a:spcAft>
                <a:spcPts val="1400"/>
              </a:spcAft>
              <a:defRPr sz="900" b="1">
                <a:solidFill>
                  <a:srgbClr val="64748B"/>
                </a:solidFill>
                <a:latin typeface="Inter"/>
              </a:defRPr>
            </a:pPr>
            <a:r>
              <a:t>Group Efficiency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Track overall Group Return on Invested Capital, group-wide EBITDA margin expansion, and software developer utilization rates.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7913" y="1508760"/>
            <a:ext cx="3514953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073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64748B"/>
                </a:solidFill>
                <a:latin typeface="Inter"/>
              </a:defRPr>
            </a:pPr>
            <a:r>
              <a:t>[UNIT ECONOMICS]</a:t>
            </a:r>
          </a:p>
          <a:p>
            <a:pPr algn="ctr">
              <a:defRPr sz="2800" b="1">
                <a:solidFill>
                  <a:srgbClr val="0284C7"/>
                </a:solidFill>
                <a:latin typeface="Outfit"/>
              </a:defRPr>
            </a:pPr>
            <a:r>
              <a:t>&gt; 3.0x</a:t>
            </a:r>
          </a:p>
          <a:p>
            <a:pPr algn="ctr">
              <a:spcAft>
                <a:spcPts val="1400"/>
              </a:spcAft>
              <a:defRPr sz="900" b="1">
                <a:solidFill>
                  <a:srgbClr val="64748B"/>
                </a:solidFill>
                <a:latin typeface="Inter"/>
              </a:defRPr>
            </a:pPr>
            <a:r>
              <a:t>LTV : CAC Target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Enforce Customer Lifetime Value to CAC ratios above 3x, and cash payback cycles under 12 months for commercial software pilots.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186" y="1508760"/>
            <a:ext cx="3514953" cy="3931920"/>
          </a:xfrm>
          <a:prstGeom prst="roundRect">
            <a:avLst/>
          </a:prstGeom>
          <a:solidFill>
            <a:srgbClr val="FEE4E6"/>
          </a:solidFill>
          <a:ln>
            <a:solidFill>
              <a:srgbClr val="D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4346" y="1600200"/>
            <a:ext cx="3240633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850" b="1">
                <a:solidFill>
                  <a:srgbClr val="D60000"/>
                </a:solidFill>
                <a:latin typeface="Inter"/>
              </a:defRPr>
            </a:pPr>
            <a:r>
              <a:t>[DISCIPLINE GATE]</a:t>
            </a:r>
          </a:p>
          <a:p>
            <a:pPr algn="ctr">
              <a:defRPr sz="2800" b="1">
                <a:solidFill>
                  <a:srgbClr val="D60000"/>
                </a:solidFill>
                <a:latin typeface="Outfit"/>
              </a:defRPr>
            </a:pPr>
            <a:r>
              <a:t>Day 60</a:t>
            </a:r>
          </a:p>
          <a:p>
            <a:pPr algn="ctr">
              <a:spcAft>
                <a:spcPts val="1400"/>
              </a:spcAft>
              <a:defRPr sz="900" b="1">
                <a:solidFill>
                  <a:srgbClr val="64748B"/>
                </a:solidFill>
                <a:latin typeface="Inter"/>
              </a:defRPr>
            </a:pPr>
            <a:r>
              <a:t>Kill / Pivot Gate</a:t>
            </a:r>
          </a:p>
          <a:p>
            <a:pPr algn="ctr">
              <a:defRPr sz="950">
                <a:solidFill>
                  <a:srgbClr val="1E293B"/>
                </a:solidFill>
                <a:latin typeface="Inter"/>
              </a:defRPr>
            </a:pPr>
            <a:r>
              <a:t>Automatically terminate any B2B MVP project that does not secure at least 2 paid client pilot signups within 60 days of launch.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